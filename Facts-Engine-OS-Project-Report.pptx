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1" r:id="rId2"/>
    <p:sldId id="274" r:id="rId3"/>
    <p:sldId id="273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1E67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4E-473E-8CDB-896676F3DCD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4E-473E-8CDB-896676F3DCD4}"/>
              </c:ext>
            </c:extLst>
          </c:dPt>
          <c:dPt>
            <c:idx val="2"/>
            <c:invertIfNegative val="0"/>
            <c:bubble3D val="0"/>
            <c:spPr>
              <a:solidFill>
                <a:srgbClr val="56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4E-473E-8CDB-896676F3DCD4}"/>
              </c:ext>
            </c:extLst>
          </c:dPt>
          <c:dPt>
            <c:idx val="3"/>
            <c:invertIfNegative val="0"/>
            <c:bubble3D val="0"/>
            <c:spPr>
              <a:solidFill>
                <a:srgbClr val="5656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4E-473E-8CDB-896676F3DCD4}"/>
              </c:ext>
            </c:extLst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4E-473E-8CDB-896676F3DCD4}"/>
              </c:ext>
            </c:extLst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B4E-473E-8CDB-896676F3DCD4}"/>
              </c:ext>
            </c:extLst>
          </c:dPt>
          <c:dPt>
            <c:idx val="6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B4E-473E-8CDB-896676F3DCD4}"/>
              </c:ext>
            </c:extLst>
          </c:dPt>
          <c:cat>
            <c:strRef>
              <c:f>Sheet1!$A$2:$A$8</c:f>
              <c:strCache>
                <c:ptCount val="7"/>
                <c:pt idx="0">
                  <c:v>Silencio</c:v>
                </c:pt>
                <c:pt idx="1">
                  <c:v>ADN a la Luna</c:v>
                </c:pt>
                <c:pt idx="2">
                  <c:v>Estrella Cercana</c:v>
                </c:pt>
                <c:pt idx="3">
                  <c:v>Hormigas</c:v>
                </c:pt>
                <c:pt idx="4">
                  <c:v>Pulpo</c:v>
                </c:pt>
                <c:pt idx="5">
                  <c:v>Londres</c:v>
                </c:pt>
                <c:pt idx="6">
                  <c:v>Color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421</c:v>
                </c:pt>
                <c:pt idx="1">
                  <c:v>368</c:v>
                </c:pt>
                <c:pt idx="2">
                  <c:v>50</c:v>
                </c:pt>
                <c:pt idx="3">
                  <c:v>40</c:v>
                </c:pt>
                <c:pt idx="4">
                  <c:v>8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B4E-473E-8CDB-896676F3D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7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D1-4F81-84A1-F83FFE2FCD08}"/>
              </c:ext>
            </c:extLst>
          </c:dPt>
          <c:dPt>
            <c:idx val="1"/>
            <c:bubble3D val="0"/>
            <c:spPr>
              <a:solidFill>
                <a:srgbClr val="9A4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D1-4F81-84A1-F83FFE2FCD08}"/>
              </c:ext>
            </c:extLst>
          </c:dPt>
          <c:dPt>
            <c:idx val="2"/>
            <c:bubble3D val="0"/>
            <c:spPr>
              <a:solidFill>
                <a:srgbClr val="44D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D1-4F81-84A1-F83FFE2FCD08}"/>
              </c:ext>
            </c:extLst>
          </c:dPt>
          <c:dPt>
            <c:idx val="3"/>
            <c:bubble3D val="0"/>
            <c:spPr>
              <a:solidFill>
                <a:srgbClr val="F2C9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D1-4F81-84A1-F83FFE2FCD08}"/>
              </c:ext>
            </c:extLst>
          </c:dPt>
          <c:dPt>
            <c:idx val="4"/>
            <c:bubble3D val="0"/>
            <c:spPr>
              <a:solidFill>
                <a:srgbClr val="FF4B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3D1-4F81-84A1-F83FFE2FCD08}"/>
              </c:ext>
            </c:extLst>
          </c:dPt>
          <c:cat>
            <c:strRef>
              <c:f>Sheet1!$A$2:$A$6</c:f>
              <c:strCache>
                <c:ptCount val="5"/>
                <c:pt idx="0">
                  <c:v>Ciencia</c:v>
                </c:pt>
                <c:pt idx="1">
                  <c:v>Espacio</c:v>
                </c:pt>
                <c:pt idx="2">
                  <c:v>Animales</c:v>
                </c:pt>
                <c:pt idx="3">
                  <c:v>Historia</c:v>
                </c:pt>
                <c:pt idx="4">
                  <c:v>Psicología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790</c:v>
                </c:pt>
                <c:pt idx="1">
                  <c:v>50</c:v>
                </c:pt>
                <c:pt idx="2">
                  <c:v>40</c:v>
                </c:pt>
                <c:pt idx="3">
                  <c:v>10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D1-4F81-84A1-F83FFE2FCD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5"/>
          <c:min val="10"/>
        </c:scaling>
        <c:delete val="0"/>
        <c:axPos val="b"/>
        <c:majorGridlines>
          <c:spPr>
            <a:ln w="1270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27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AFE1A-CA6C-8D6A-738A-1E132070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8FD6D6-5150-C5CE-1FB2-E04D24C8C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CDC27-EA8C-500A-AADD-762648F0E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865F9-FB90-EFD6-44BB-CCD74012D3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8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3C12-7E34-CF8D-BBF8-0C56A863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5B968-FFC6-B379-2B64-482EDD30A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5A392-58CA-B117-A751-D8843D0C2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92988-9717-BA48-2FFF-86084AFB8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41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80794-74BB-2112-3DFE-8A7AFACC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D1CA6-EC10-E91B-86B4-CE4B5F61C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8BC07-7485-0D14-A4C8-BBC8F7137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791B6-5423-02F1-E932-61A49A44B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2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5AEA-D58A-42AA-DFEA-EB74907C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5146C-CFBF-14AF-1B5C-4E1A01C14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8F188-1B41-299D-681D-3D9CF6C54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74310-F8BF-9FA8-1D3E-B0EAFF9CF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99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uva-01/Video-Bot-N8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channel/UC9ynAJNdEpRGI6K2-Fqv4Ow" TargetMode="External"/><Relationship Id="rId4" Type="http://schemas.openxmlformats.org/officeDocument/2006/relationships/hyperlink" Target="https://www.linkedin.com/in/dmartinez01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2320E-07F6-C37B-38C5-0AB10595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CF04AD3-27BA-EDE1-08C0-E8A118C74477}"/>
              </a:ext>
            </a:extLst>
          </p:cNvPr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16 / 16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D714C6-7A2E-102A-B126-4EC4F2DFAA8D}"/>
              </a:ext>
            </a:extLst>
          </p:cNvPr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DF465B-2775-EA3E-4AC8-2691D9621EA3}"/>
              </a:ext>
            </a:extLst>
          </p:cNvPr>
          <p:cNvSpPr/>
          <p:nvPr/>
        </p:nvSpPr>
        <p:spPr>
          <a:xfrm>
            <a:off x="932688" y="12984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1038C56-BE15-3D8D-BD76-EA3E35F7BF1F}"/>
              </a:ext>
            </a:extLst>
          </p:cNvPr>
          <p:cNvSpPr/>
          <p:nvPr/>
        </p:nvSpPr>
        <p:spPr>
          <a:xfrm>
            <a:off x="4358467" y="1633326"/>
            <a:ext cx="3475065" cy="311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 err="1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Ejemplos</a:t>
            </a:r>
            <a:r>
              <a:rPr lang="en-US" sz="72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</a:t>
            </a:r>
          </a:p>
          <a:p>
            <a:pPr algn="ctr"/>
            <a:r>
              <a:rPr lang="en-US" sz="72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</a:t>
            </a:r>
            <a:endParaRPr lang="en-US" sz="7200" b="1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A1A987B-9FE9-0C94-9B8F-DB2C5B0E7849}"/>
              </a:ext>
            </a:extLst>
          </p:cNvPr>
          <p:cNvSpPr/>
          <p:nvPr/>
        </p:nvSpPr>
        <p:spPr>
          <a:xfrm>
            <a:off x="5235199" y="3789067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82503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688533-0C08-1ACD-406C-AA2B5132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737"/>
            <a:ext cx="12192000" cy="578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00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3E8D7B-B8F4-B3A6-BD0F-59F7DEE5A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8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EBEE1-F7C6-9A47-6829-F3FE8E37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6A501F-F450-03F7-29D8-AFEE12D4447C}"/>
              </a:ext>
            </a:extLst>
          </p:cNvPr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BAD5D9-CA50-4CCA-1E80-C2BF607C54B3}"/>
              </a:ext>
            </a:extLst>
          </p:cNvPr>
          <p:cNvSpPr/>
          <p:nvPr/>
        </p:nvSpPr>
        <p:spPr>
          <a:xfrm>
            <a:off x="1143000" y="347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67FF"/>
                </a:solidFill>
              </a:rPr>
              <a:t>PROJECT REPORT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F0B0B1-F898-D1F7-AA6F-6ECEE0638FB1}"/>
              </a:ext>
            </a:extLst>
          </p:cNvPr>
          <p:cNvSpPr/>
          <p:nvPr/>
        </p:nvSpPr>
        <p:spPr>
          <a:xfrm>
            <a:off x="54864" y="420624"/>
            <a:ext cx="54864" cy="632764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DD6257-3493-6034-BBB6-ADDBB3F9B74C}"/>
              </a:ext>
            </a:extLst>
          </p:cNvPr>
          <p:cNvSpPr/>
          <p:nvPr/>
        </p:nvSpPr>
        <p:spPr>
          <a:xfrm>
            <a:off x="1143000" y="80467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Facts Engine </a:t>
            </a: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</a:t>
            </a:r>
            <a:endParaRPr lang="en-US" sz="5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BD66FC-DE41-8257-A097-B1E53D11E19E}"/>
              </a:ext>
            </a:extLst>
          </p:cNvPr>
          <p:cNvSpPr/>
          <p:nvPr/>
        </p:nvSpPr>
        <p:spPr>
          <a:xfrm>
            <a:off x="1143000" y="19385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D9CC"/>
                </a:solidFill>
              </a:rPr>
              <a:t>Sistema de automatización integral para generar, procesar 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6D9CC"/>
                </a:solidFill>
              </a:rPr>
              <a:t>publicar YouTube Shorts de hechos curiosos.</a:t>
            </a:r>
            <a:endParaRPr lang="en-US" sz="2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8E066-B23E-D2C5-7912-9A49A18DE5CE}"/>
              </a:ext>
            </a:extLst>
          </p:cNvPr>
          <p:cNvSpPr/>
          <p:nvPr/>
        </p:nvSpPr>
        <p:spPr>
          <a:xfrm>
            <a:off x="1143000" y="4590288"/>
            <a:ext cx="1022299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599667-CC45-4E44-6AD6-A29DE2772CAE}"/>
              </a:ext>
            </a:extLst>
          </p:cNvPr>
          <p:cNvSpPr/>
          <p:nvPr/>
        </p:nvSpPr>
        <p:spPr>
          <a:xfrm>
            <a:off x="1152144" y="49194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086"/>
                </a:solidFill>
              </a:rPr>
              <a:t>INFRASTRUCTURE &amp; STACK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74B9EA0-B4CD-3DE7-0725-0D8395804C1A}"/>
              </a:ext>
            </a:extLst>
          </p:cNvPr>
          <p:cNvSpPr/>
          <p:nvPr/>
        </p:nvSpPr>
        <p:spPr>
          <a:xfrm>
            <a:off x="1143000" y="521208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0AD4E-971E-148F-D291-3EB502F0E1E5}"/>
              </a:ext>
            </a:extLst>
          </p:cNvPr>
          <p:cNvSpPr/>
          <p:nvPr/>
        </p:nvSpPr>
        <p:spPr>
          <a:xfrm>
            <a:off x="1197864" y="526694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Cloudflare Pages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498AD6C-15C0-5EFC-6D03-9AC8FC3778B1}"/>
              </a:ext>
            </a:extLst>
          </p:cNvPr>
          <p:cNvSpPr/>
          <p:nvPr/>
        </p:nvSpPr>
        <p:spPr>
          <a:xfrm>
            <a:off x="2990088" y="5212080"/>
            <a:ext cx="1024128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F323FF-52D7-D0FD-7E7A-43B5043FE59D}"/>
              </a:ext>
            </a:extLst>
          </p:cNvPr>
          <p:cNvSpPr/>
          <p:nvPr/>
        </p:nvSpPr>
        <p:spPr>
          <a:xfrm>
            <a:off x="3044952" y="52669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Render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4C0E40F-D2A3-F2CA-986D-DAD0665ADD82}"/>
              </a:ext>
            </a:extLst>
          </p:cNvPr>
          <p:cNvSpPr/>
          <p:nvPr/>
        </p:nvSpPr>
        <p:spPr>
          <a:xfrm>
            <a:off x="4215384" y="5212080"/>
            <a:ext cx="731520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F7571B-AFD0-CC50-D5A8-B17A284466C5}"/>
              </a:ext>
            </a:extLst>
          </p:cNvPr>
          <p:cNvSpPr/>
          <p:nvPr/>
        </p:nvSpPr>
        <p:spPr>
          <a:xfrm>
            <a:off x="4270248" y="526694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n8n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0361DDD-4596-CA8C-C09F-2F0B1A6774AD}"/>
              </a:ext>
            </a:extLst>
          </p:cNvPr>
          <p:cNvSpPr/>
          <p:nvPr/>
        </p:nvSpPr>
        <p:spPr>
          <a:xfrm>
            <a:off x="5148072" y="5212080"/>
            <a:ext cx="1353312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60359F4-CA73-2AEB-E538-ADDFE6287985}"/>
              </a:ext>
            </a:extLst>
          </p:cNvPr>
          <p:cNvSpPr/>
          <p:nvPr/>
        </p:nvSpPr>
        <p:spPr>
          <a:xfrm>
            <a:off x="5202936" y="526694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Neon Postgres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B1AFF4F-EB60-6082-C946-0F11F313F464}"/>
              </a:ext>
            </a:extLst>
          </p:cNvPr>
          <p:cNvSpPr/>
          <p:nvPr/>
        </p:nvSpPr>
        <p:spPr>
          <a:xfrm>
            <a:off x="6702552" y="5212080"/>
            <a:ext cx="1170432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C51911-3611-D4D8-0B6E-D841C7CA2B8A}"/>
              </a:ext>
            </a:extLst>
          </p:cNvPr>
          <p:cNvSpPr/>
          <p:nvPr/>
        </p:nvSpPr>
        <p:spPr>
          <a:xfrm>
            <a:off x="6757416" y="526694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Groq / AI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1ED597E-B792-18C6-55BD-ED8664EB6E4A}"/>
              </a:ext>
            </a:extLst>
          </p:cNvPr>
          <p:cNvSpPr/>
          <p:nvPr/>
        </p:nvSpPr>
        <p:spPr>
          <a:xfrm>
            <a:off x="1143000" y="5815584"/>
            <a:ext cx="1060704" cy="292608"/>
          </a:xfrm>
          <a:prstGeom prst="roundRect">
            <a:avLst>
              <a:gd name="adj" fmla="val 15625"/>
            </a:avLst>
          </a:prstGeom>
          <a:solidFill>
            <a:srgbClr val="262626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FDF35F5-950B-FEC5-B58E-30DFAD91D391}"/>
              </a:ext>
            </a:extLst>
          </p:cNvPr>
          <p:cNvSpPr/>
          <p:nvPr/>
        </p:nvSpPr>
        <p:spPr>
          <a:xfrm>
            <a:off x="1197864" y="587044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3C6CB"/>
                </a:solidFill>
              </a:rPr>
              <a:t>FFmpeg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AB930B1-D609-13E2-8800-7303CEC83AED}"/>
              </a:ext>
            </a:extLst>
          </p:cNvPr>
          <p:cNvSpPr/>
          <p:nvPr/>
        </p:nvSpPr>
        <p:spPr>
          <a:xfrm rot="10800000">
            <a:off x="7269480" y="2011680"/>
            <a:ext cx="4892040" cy="4736592"/>
          </a:xfrm>
          <a:prstGeom prst="chevron">
            <a:avLst/>
          </a:prstGeom>
          <a:solidFill>
            <a:srgbClr val="2A2A2A">
              <a:alpha val="62000"/>
            </a:srgbClr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B7093C3-C66A-CA90-A125-4B02C7B0A08A}"/>
              </a:ext>
            </a:extLst>
          </p:cNvPr>
          <p:cNvSpPr/>
          <p:nvPr/>
        </p:nvSpPr>
        <p:spPr>
          <a:xfrm>
            <a:off x="9253728" y="4059936"/>
            <a:ext cx="2331720" cy="2359152"/>
          </a:xfrm>
          <a:prstGeom prst="rect">
            <a:avLst/>
          </a:prstGeom>
          <a:solidFill>
            <a:srgbClr val="202020">
              <a:alpha val="80000"/>
            </a:srgbClr>
          </a:solidFill>
          <a:ln w="12700">
            <a:solidFill>
              <a:srgbClr val="2448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8CC0E8A-022C-3B9C-E760-69352F1FB663}"/>
              </a:ext>
            </a:extLst>
          </p:cNvPr>
          <p:cNvSpPr/>
          <p:nvPr/>
        </p:nvSpPr>
        <p:spPr>
          <a:xfrm>
            <a:off x="9912096" y="59436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4B89C"/>
                </a:solidFill>
              </a:rPr>
              <a:t>21 de Marzo, 2026</a:t>
            </a:r>
            <a:endParaRPr lang="en-US" sz="15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3BA50ED-D9F3-4E9B-3B10-C8A57EBB6642}"/>
              </a:ext>
            </a:extLst>
          </p:cNvPr>
          <p:cNvSpPr/>
          <p:nvPr/>
        </p:nvSpPr>
        <p:spPr>
          <a:xfrm>
            <a:off x="11228832" y="411480"/>
            <a:ext cx="54864" cy="54864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75E3878-8C7B-C892-8F68-5D3C503BC477}"/>
              </a:ext>
            </a:extLst>
          </p:cNvPr>
          <p:cNvSpPr/>
          <p:nvPr/>
        </p:nvSpPr>
        <p:spPr>
          <a:xfrm>
            <a:off x="11393424" y="411480"/>
            <a:ext cx="54864" cy="54864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7AD827E-E8BF-5376-866D-0099720994EC}"/>
              </a:ext>
            </a:extLst>
          </p:cNvPr>
          <p:cNvSpPr/>
          <p:nvPr/>
        </p:nvSpPr>
        <p:spPr>
          <a:xfrm>
            <a:off x="11558016" y="411480"/>
            <a:ext cx="54864" cy="54864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A0B10EE9-AC70-D6B8-65E3-B16C14B07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432"/>
            <a:ext cx="12031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4864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02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Objetivo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Contexto operativo y estratégico para la automatización de contenido bajo restricciones de coste y mantenimiento.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39312" y="886968"/>
            <a:ext cx="0" cy="87782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22192" y="868680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22192" y="9052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42816" y="859536"/>
            <a:ext cx="688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El Desafío (Problema)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42816" y="1197864"/>
            <a:ext cx="6848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Necesidad de producir Shorts consistentes, de calidad aceptable y a coste cero, minimizando la intervención humana y operando en entornos "free-tier" con recursos limitados.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39312" y="2875788"/>
            <a:ext cx="8046720" cy="969264"/>
          </a:xfrm>
          <a:prstGeom prst="rect">
            <a:avLst/>
          </a:prstGeom>
          <a:solidFill>
            <a:srgbClr val="101828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39312" y="2935224"/>
            <a:ext cx="0" cy="87782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822192" y="2967228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22192" y="30312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42816" y="2929703"/>
            <a:ext cx="7296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 Misión (Objetivo)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42816" y="3240599"/>
            <a:ext cx="7260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Construir un pipeline E2E autoservicio (Texto → Voz → Subs → Clips → Vídeo) que sea resiliente, totalmente observable y capaz de recuperarse de fallos automáticamente.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39312" y="4620308"/>
            <a:ext cx="0" cy="1115568"/>
          </a:xfrm>
          <a:prstGeom prst="line">
            <a:avLst/>
          </a:prstGeom>
          <a:noFill/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822192" y="4704588"/>
            <a:ext cx="292608" cy="292608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822192" y="47685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42816" y="4764024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Restricciones Actuales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242816" y="5010912"/>
            <a:ext cx="70774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Render Free: Límites estrictos de RAM y suspensión por inactividad.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YouTube API: Subidas forzadas a modo "privado" por falta de auditoría externa.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Presupuesto: Coste operativo tendiente a cero.</a:t>
            </a:r>
            <a:endParaRPr lang="en-US" sz="1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DD9442B9-3EB1-E419-011C-923C613B3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8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03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Visión General del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02336" y="1097280"/>
            <a:ext cx="11018520" cy="4023360"/>
          </a:xfrm>
          <a:prstGeom prst="roundRect">
            <a:avLst>
              <a:gd name="adj" fmla="val 1364"/>
            </a:avLst>
          </a:prstGeom>
          <a:solidFill>
            <a:srgbClr val="242424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417320" y="1298448"/>
            <a:ext cx="8202168" cy="3273552"/>
          </a:xfrm>
          <a:prstGeom prst="roundRect">
            <a:avLst>
              <a:gd name="adj" fmla="val 1117"/>
            </a:avLst>
          </a:prstGeom>
          <a:solidFill>
            <a:srgbClr val="171A1D"/>
          </a:solidFill>
          <a:ln w="1270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719072" y="16093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F4F4"/>
                </a:solidFill>
              </a:rPr>
              <a:t>Facts Engine OS automación pipeline pladorno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64208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58799B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719072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Activador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(Manual/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Programado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2h)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377440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551176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7D91A7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06040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Selecciona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Tema de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Hechos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64408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438144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A9C9FF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493008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Generar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Guion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(Groq LLM)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151376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325112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A6AAAE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379976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Texto a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Voz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(Cloudflare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AI)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38344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212080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7398B7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266944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Generar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Subtítulos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925312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099048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DBDEDD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53912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Obtener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Clips de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Pexels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812280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986016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7EA7D8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040880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Construir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Vídeo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(FFmpeg)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699248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872984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E3E6E8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927848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Subir a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242629"/>
                </a:solidFill>
              </a:rPr>
              <a:t>YouTube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586216" y="2907792"/>
            <a:ext cx="237744" cy="219456"/>
          </a:xfrm>
          <a:prstGeom prst="chevron">
            <a:avLst/>
          </a:prstGeom>
          <a:solidFill>
            <a:srgbClr val="B8B8B8"/>
          </a:solidFill>
          <a:ln w="12700">
            <a:solidFill>
              <a:srgbClr val="9D9D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8759952" y="2578608"/>
            <a:ext cx="768096" cy="1115568"/>
          </a:xfrm>
          <a:prstGeom prst="roundRect">
            <a:avLst>
              <a:gd name="adj" fmla="val 9524"/>
            </a:avLst>
          </a:prstGeom>
          <a:solidFill>
            <a:srgbClr val="1D4A90"/>
          </a:solidFill>
          <a:ln w="12700">
            <a:solidFill>
              <a:srgbClr val="D3D6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8814816" y="295351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</a:rPr>
              <a:t>Finalizar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</a:rPr>
              <a:t>Contenido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FFFFFF"/>
                </a:solidFill>
              </a:rPr>
              <a:t>(Neon DB)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818120" y="4251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3C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Espacio de trabajo temporal: /tmp/bot-videos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24928" y="4178808"/>
            <a:ext cx="27432" cy="329184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970276D7-C1A4-47A2-E5F2-326B61D3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3" y="0"/>
            <a:ext cx="120934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04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0" y="11887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0" y="14173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0" y="16459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18745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21031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0" y="23317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30175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0" y="32461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0" y="34747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0" y="37033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0" y="39319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0" y="41605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0" y="46177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0" y="53035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0" y="55321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0" y="5989320"/>
            <a:ext cx="12188952" cy="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0" y="62179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182880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3891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9494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95097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120700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146304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719072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97510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223113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248716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274320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299923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255264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351129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76732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402336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427939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453542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4791456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504748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530352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55955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581558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607161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6327648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658368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683971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709574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735177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760780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7863840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811987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837590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863193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888796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914400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9400032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965606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991209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1016812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042416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1068019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10936224" y="0"/>
            <a:ext cx="0" cy="6812280"/>
          </a:xfrm>
          <a:prstGeom prst="line">
            <a:avLst/>
          </a:prstGeom>
          <a:noFill/>
          <a:ln w="12700">
            <a:solidFill>
              <a:srgbClr val="2323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Shape 73"/>
          <p:cNvSpPr/>
          <p:nvPr/>
        </p:nvSpPr>
        <p:spPr>
          <a:xfrm>
            <a:off x="11192256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11448288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Shape 75"/>
          <p:cNvSpPr/>
          <p:nvPr/>
        </p:nvSpPr>
        <p:spPr>
          <a:xfrm>
            <a:off x="11704320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11960352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12216384" y="0"/>
            <a:ext cx="0" cy="6812280"/>
          </a:xfrm>
          <a:prstGeom prst="line">
            <a:avLst/>
          </a:prstGeom>
          <a:noFill/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2500" dirty="0"/>
          </a:p>
        </p:txBody>
      </p:sp>
      <p:sp>
        <p:nvSpPr>
          <p:cNvPr id="82" name="Shape 80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566928" y="1024128"/>
            <a:ext cx="5623560" cy="4005072"/>
          </a:xfrm>
          <a:prstGeom prst="roundRect">
            <a:avLst>
              <a:gd name="adj" fmla="val 913"/>
            </a:avLst>
          </a:prstGeom>
          <a:solidFill>
            <a:srgbClr val="292929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786384" y="1444752"/>
            <a:ext cx="5074920" cy="3090672"/>
          </a:xfrm>
          <a:prstGeom prst="roundRect">
            <a:avLst>
              <a:gd name="adj" fmla="val 1183"/>
            </a:avLst>
          </a:prstGeom>
          <a:solidFill>
            <a:srgbClr val="171C24"/>
          </a:solidFill>
          <a:ln w="12700">
            <a:solidFill>
              <a:srgbClr val="1D1D1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1389888" y="1188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DIAGRAMA DE ARQUITECTURA DE BLOQUES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PROFESIONAL: FACTS ENGINE OS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2267712" y="1609344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A7D8FF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2322576" y="1664208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3040"/>
                </a:solidFill>
              </a:rPr>
              <a:t>Cloudflare Pages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2615184" y="18562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223040"/>
                </a:solidFill>
              </a:rPr>
              <a:t>Landing + Dashboard + Logs + Health</a:t>
            </a:r>
            <a:endParaRPr lang="en-US" sz="740" dirty="0"/>
          </a:p>
        </p:txBody>
      </p:sp>
      <p:sp>
        <p:nvSpPr>
          <p:cNvPr id="89" name="Shape 87"/>
          <p:cNvSpPr/>
          <p:nvPr/>
        </p:nvSpPr>
        <p:spPr>
          <a:xfrm>
            <a:off x="2148840" y="2432304"/>
            <a:ext cx="2907792" cy="292608"/>
          </a:xfrm>
          <a:prstGeom prst="roundRect">
            <a:avLst>
              <a:gd name="adj" fmla="val 15625"/>
            </a:avLst>
          </a:prstGeom>
          <a:solidFill>
            <a:srgbClr val="4688D5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Text 88"/>
          <p:cNvSpPr/>
          <p:nvPr/>
        </p:nvSpPr>
        <p:spPr>
          <a:xfrm>
            <a:off x="2203704" y="2487168"/>
            <a:ext cx="2798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Render Free Tier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170432" y="27249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render-proxy.js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2423160" y="27249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n8n Workflow</a:t>
            </a:r>
            <a:endParaRPr lang="en-US" sz="720" dirty="0"/>
          </a:p>
        </p:txBody>
      </p:sp>
      <p:sp>
        <p:nvSpPr>
          <p:cNvPr id="93" name="Text 91"/>
          <p:cNvSpPr/>
          <p:nvPr/>
        </p:nvSpPr>
        <p:spPr>
          <a:xfrm>
            <a:off x="3931920" y="27249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API REST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1417320" y="30540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Pipeline</a:t>
            </a:r>
            <a:endParaRPr lang="en-US" sz="720" dirty="0"/>
          </a:p>
        </p:txBody>
      </p:sp>
      <p:sp>
        <p:nvSpPr>
          <p:cNvPr id="95" name="Text 93"/>
          <p:cNvSpPr/>
          <p:nvPr/>
        </p:nvSpPr>
        <p:spPr>
          <a:xfrm>
            <a:off x="2450592" y="30540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Pipeline Scripts</a:t>
            </a:r>
            <a:endParaRPr lang="en-US" sz="720" dirty="0"/>
          </a:p>
        </p:txBody>
      </p:sp>
      <p:sp>
        <p:nvSpPr>
          <p:cNvPr id="96" name="Text 94"/>
          <p:cNvSpPr/>
          <p:nvPr/>
        </p:nvSpPr>
        <p:spPr>
          <a:xfrm>
            <a:off x="4160520" y="305409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FFFFFF"/>
                </a:solidFill>
              </a:rPr>
              <a:t>FFmpeg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1938528" y="3767328"/>
            <a:ext cx="3246120" cy="292608"/>
          </a:xfrm>
          <a:prstGeom prst="roundRect">
            <a:avLst>
              <a:gd name="adj" fmla="val 15625"/>
            </a:avLst>
          </a:prstGeom>
          <a:solidFill>
            <a:srgbClr val="1C4B8C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Text 96"/>
          <p:cNvSpPr/>
          <p:nvPr/>
        </p:nvSpPr>
        <p:spPr>
          <a:xfrm>
            <a:off x="1993392" y="3822192"/>
            <a:ext cx="3136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Neon PostgreSQL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1298448" y="4160520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20375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0" name="Text 98"/>
          <p:cNvSpPr/>
          <p:nvPr/>
        </p:nvSpPr>
        <p:spPr>
          <a:xfrm>
            <a:off x="1353312" y="42153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1F0"/>
                </a:solidFill>
              </a:rPr>
              <a:t>content_runs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2148840" y="4160520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20375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Text 100"/>
          <p:cNvSpPr/>
          <p:nvPr/>
        </p:nvSpPr>
        <p:spPr>
          <a:xfrm>
            <a:off x="2203704" y="42153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1F0"/>
                </a:solidFill>
              </a:rPr>
              <a:t>content_events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999232" y="4160520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20375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Text 102"/>
          <p:cNvSpPr/>
          <p:nvPr/>
        </p:nvSpPr>
        <p:spPr>
          <a:xfrm>
            <a:off x="3054096" y="42153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1F0"/>
                </a:solidFill>
              </a:rPr>
              <a:t>content_artifacts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3849624" y="4160520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20375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" name="Text 104"/>
          <p:cNvSpPr/>
          <p:nvPr/>
        </p:nvSpPr>
        <p:spPr>
          <a:xfrm>
            <a:off x="3904488" y="42153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1F0"/>
                </a:solidFill>
              </a:rPr>
              <a:t>execution_logs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700016" y="4160520"/>
            <a:ext cx="768096" cy="292608"/>
          </a:xfrm>
          <a:prstGeom prst="roundRect">
            <a:avLst>
              <a:gd name="adj" fmla="val 15625"/>
            </a:avLst>
          </a:prstGeom>
          <a:solidFill>
            <a:srgbClr val="20375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8" name="Text 106"/>
          <p:cNvSpPr/>
          <p:nvPr/>
        </p:nvSpPr>
        <p:spPr>
          <a:xfrm>
            <a:off x="4754880" y="421538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1F0"/>
                </a:solidFill>
              </a:rPr>
              <a:t>workflow_snapshots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6446520" y="1051560"/>
            <a:ext cx="0" cy="78638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6629400" y="1033272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Text 109"/>
          <p:cNvSpPr/>
          <p:nvPr/>
        </p:nvSpPr>
        <p:spPr>
          <a:xfrm>
            <a:off x="6629400" y="106984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□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050024" y="102412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Frontend</a:t>
            </a:r>
            <a:endParaRPr lang="en-US" sz="1700" dirty="0"/>
          </a:p>
        </p:txBody>
      </p:sp>
      <p:sp>
        <p:nvSpPr>
          <p:cNvPr id="113" name="Text 111"/>
          <p:cNvSpPr/>
          <p:nvPr/>
        </p:nvSpPr>
        <p:spPr>
          <a:xfrm>
            <a:off x="7050024" y="136245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Cloudflare Pages hosting landing + dashboard.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Conexión segura con backend para auth y logs.</a:t>
            </a:r>
            <a:endParaRPr lang="en-US" sz="1250" dirty="0"/>
          </a:p>
        </p:txBody>
      </p:sp>
      <p:sp>
        <p:nvSpPr>
          <p:cNvPr id="114" name="Shape 112"/>
          <p:cNvSpPr/>
          <p:nvPr/>
        </p:nvSpPr>
        <p:spPr>
          <a:xfrm>
            <a:off x="6446520" y="2002536"/>
            <a:ext cx="0" cy="96926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Shape 113"/>
          <p:cNvSpPr/>
          <p:nvPr/>
        </p:nvSpPr>
        <p:spPr>
          <a:xfrm>
            <a:off x="6629400" y="1984248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Text 114"/>
          <p:cNvSpPr/>
          <p:nvPr/>
        </p:nvSpPr>
        <p:spPr>
          <a:xfrm>
            <a:off x="6629400" y="202082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▣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7050024" y="197510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Backend (Render)</a:t>
            </a:r>
            <a:endParaRPr lang="en-US" sz="1700" dirty="0"/>
          </a:p>
        </p:txBody>
      </p:sp>
      <p:sp>
        <p:nvSpPr>
          <p:cNvPr id="118" name="Text 116"/>
          <p:cNvSpPr/>
          <p:nvPr/>
        </p:nvSpPr>
        <p:spPr>
          <a:xfrm>
            <a:off x="7050024" y="2313432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Core del sistema: n8n workflow engine, API REST, scripts Node.js y FFmpeg optimizado para low-memory.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6446520" y="3172968"/>
            <a:ext cx="0" cy="786384"/>
          </a:xfrm>
          <a:prstGeom prst="line">
            <a:avLst/>
          </a:prstGeom>
          <a:noFill/>
          <a:ln w="1270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Shape 118"/>
          <p:cNvSpPr/>
          <p:nvPr/>
        </p:nvSpPr>
        <p:spPr>
          <a:xfrm>
            <a:off x="6629400" y="3154680"/>
            <a:ext cx="292608" cy="292608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Text 119"/>
          <p:cNvSpPr/>
          <p:nvPr/>
        </p:nvSpPr>
        <p:spPr>
          <a:xfrm>
            <a:off x="6629400" y="31912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◉</a:t>
            </a:r>
            <a:endParaRPr lang="en-US" sz="1000" dirty="0"/>
          </a:p>
        </p:txBody>
      </p:sp>
      <p:sp>
        <p:nvSpPr>
          <p:cNvPr id="122" name="Text 120"/>
          <p:cNvSpPr/>
          <p:nvPr/>
        </p:nvSpPr>
        <p:spPr>
          <a:xfrm>
            <a:off x="7050024" y="314553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Datos (Neon)</a:t>
            </a:r>
            <a:endParaRPr lang="en-US" sz="1700" dirty="0"/>
          </a:p>
        </p:txBody>
      </p:sp>
      <p:sp>
        <p:nvSpPr>
          <p:cNvPr id="123" name="Text 121"/>
          <p:cNvSpPr/>
          <p:nvPr/>
        </p:nvSpPr>
        <p:spPr>
          <a:xfrm>
            <a:off x="7050024" y="348386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PostgreSQL serverless almacenando estado de ejecuciones, eventos, artefactos y snapshots del workflow.</a:t>
            </a:r>
            <a:endParaRPr lang="en-US" sz="1250" dirty="0"/>
          </a:p>
        </p:txBody>
      </p:sp>
      <p:sp>
        <p:nvSpPr>
          <p:cNvPr id="124" name="Shape 122"/>
          <p:cNvSpPr/>
          <p:nvPr/>
        </p:nvSpPr>
        <p:spPr>
          <a:xfrm>
            <a:off x="6446520" y="4123944"/>
            <a:ext cx="0" cy="78638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5" name="Shape 123"/>
          <p:cNvSpPr/>
          <p:nvPr/>
        </p:nvSpPr>
        <p:spPr>
          <a:xfrm>
            <a:off x="6629400" y="4105656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6" name="Text 124"/>
          <p:cNvSpPr/>
          <p:nvPr/>
        </p:nvSpPr>
        <p:spPr>
          <a:xfrm>
            <a:off x="6629400" y="41422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↯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7050024" y="40965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Integraciones</a:t>
            </a:r>
            <a:endParaRPr lang="en-US" sz="1700" dirty="0"/>
          </a:p>
        </p:txBody>
      </p:sp>
      <p:sp>
        <p:nvSpPr>
          <p:cNvPr id="128" name="Text 126"/>
          <p:cNvSpPr/>
          <p:nvPr/>
        </p:nvSpPr>
        <p:spPr>
          <a:xfrm>
            <a:off x="7050024" y="44348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Groq (LLM), Cloudflare Workers AI (TTS), Pexels (Media) y YouTube Data API (Upload).</a:t>
            </a:r>
            <a:endParaRPr lang="en-US" sz="1250" dirty="0"/>
          </a:p>
        </p:txBody>
      </p:sp>
      <p:pic>
        <p:nvPicPr>
          <p:cNvPr id="130" name="Imagen 129">
            <a:extLst>
              <a:ext uri="{FF2B5EF4-FFF2-40B4-BE49-F238E27FC236}">
                <a16:creationId xmlns:a16="http://schemas.microsoft.com/office/drawing/2014/main" id="{6FE3E6E8-199E-D7EB-8CEE-CFE2423EC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1" y="42390"/>
            <a:ext cx="12098438" cy="6773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05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Automatización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Orquestación inteligente del proceso creativo mediante n8n, gestionando desde la programación temporal hasta la persistencia de datos.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57600" y="923544"/>
            <a:ext cx="0" cy="87782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40480" y="905256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0" y="941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61104" y="8961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Configuración y Triggers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61104" y="1234440"/>
            <a:ext cx="6729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Basado en la plantilla shorts-automation.template.json. Se ejecuta mediante Schedule Trigger (cada 2 horas) o Manual Trigger bajo demanda. Utiliza un workspace temporal en /tmp/bot-videos.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0" y="2084832"/>
            <a:ext cx="7918704" cy="914400"/>
          </a:xfrm>
          <a:prstGeom prst="rect">
            <a:avLst/>
          </a:prstGeom>
          <a:solidFill>
            <a:srgbClr val="101828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57600" y="2130552"/>
            <a:ext cx="0" cy="822960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840480" y="211226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61104" y="2103120"/>
            <a:ext cx="7168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Secuencia de Nodos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61104" y="2441448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Flujo lineal optimizado: Prepare Workspace → Select Topic → Generate Script → Generate Voice → Subtitles → Fetch Pexels → Build Video → YouTube Upload → Finalize Content.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0" y="3300984"/>
            <a:ext cx="0" cy="896112"/>
          </a:xfrm>
          <a:prstGeom prst="line">
            <a:avLst/>
          </a:prstGeom>
          <a:noFill/>
          <a:ln w="12700">
            <a:solidFill>
              <a:srgbClr val="9A4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840480" y="3282696"/>
            <a:ext cx="292608" cy="292608"/>
          </a:xfrm>
          <a:prstGeom prst="rect">
            <a:avLst/>
          </a:prstGeom>
          <a:solidFill>
            <a:srgbClr val="9A4DFF"/>
          </a:solidFill>
          <a:ln w="12700">
            <a:solidFill>
              <a:srgbClr val="9A4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840480" y="33192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61104" y="3273552"/>
            <a:ext cx="6693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Lógica de Negocio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261104" y="3611880"/>
            <a:ext cx="6656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Selección de temas dinámica (FACT_TOPIC_MODE: dynamic-first) con hasta 4 reintentos. Todos los artefactos, métricas y estados se persisten en Neon PostgreSQL para observabilidad total.</a:t>
            </a:r>
            <a:endParaRPr lang="en-US" sz="1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D54EE42-722F-52A5-8B0A-4FDE7FBEA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30"/>
            <a:ext cx="12192000" cy="6812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06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y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Principales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Core del Sistema (Render)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2336" y="1024128"/>
            <a:ext cx="27432" cy="31089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2336" y="1481328"/>
            <a:ext cx="4645152" cy="1261872"/>
          </a:xfrm>
          <a:prstGeom prst="roundRect">
            <a:avLst>
              <a:gd name="adj" fmla="val 2899"/>
            </a:avLst>
          </a:prstGeom>
          <a:solidFill>
            <a:srgbClr val="272727"/>
          </a:solidFill>
          <a:ln w="12700">
            <a:solidFill>
              <a:srgbClr val="4B4B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FC4CC"/>
                </a:solidFill>
              </a:rPr>
              <a:t>El backend actúa como orquestador central, gestionando la ejecución de workflows, la persistencia de datos y la interfaz de control. El archivo principal render-proxy.js unifica la lógica de servidor y automatización.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" y="2980944"/>
            <a:ext cx="4663440" cy="749808"/>
          </a:xfrm>
          <a:prstGeom prst="roundRect">
            <a:avLst>
              <a:gd name="adj" fmla="val 3659"/>
            </a:avLst>
          </a:prstGeom>
          <a:solidFill>
            <a:srgbClr val="222222"/>
          </a:solidFill>
          <a:ln w="1270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1792" y="316382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6345E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024128" y="30906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Proxy &amp; Auth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31012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FC4CC"/>
                </a:solidFill>
              </a:rPr>
              <a:t>Gestiona autenticación JWT, API del dashboard y proxy inverso hacia la UI de n8n.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02336" y="3840480"/>
            <a:ext cx="4663440" cy="749808"/>
          </a:xfrm>
          <a:prstGeom prst="roundRect">
            <a:avLst>
              <a:gd name="adj" fmla="val 3659"/>
            </a:avLst>
          </a:prstGeom>
          <a:solidFill>
            <a:srgbClr val="222222"/>
          </a:solidFill>
          <a:ln w="1270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21792" y="40233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6345E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24128" y="3950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n8n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41696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FC4CC"/>
                </a:solidFill>
              </a:rPr>
              <a:t>Ejecuta el pipeline de automatización (texto-video) de forma programada o manual.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02336" y="4700016"/>
            <a:ext cx="4663440" cy="749808"/>
          </a:xfrm>
          <a:prstGeom prst="roundRect">
            <a:avLst>
              <a:gd name="adj" fmla="val 3659"/>
            </a:avLst>
          </a:prstGeom>
          <a:solidFill>
            <a:srgbClr val="222222"/>
          </a:solidFill>
          <a:ln w="1270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21792" y="488289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6345E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024128" y="48097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FFmpeg 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5029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FC4CC"/>
                </a:solidFill>
              </a:rPr>
              <a:t>Procesamiento de vídeo optimizado para entornos de memoria limitada (Low-Memory Profile).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40680" y="1024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 &amp; Scripts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330952" y="1024128"/>
            <a:ext cx="27432" cy="31089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340096" y="1481328"/>
            <a:ext cx="4151376" cy="1444752"/>
          </a:xfrm>
          <a:prstGeom prst="roundRect">
            <a:avLst>
              <a:gd name="adj" fmla="val 2532"/>
            </a:avLst>
          </a:prstGeom>
          <a:solidFill>
            <a:srgbClr val="202020"/>
          </a:solidFill>
          <a:ln w="12700">
            <a:solidFill>
              <a:srgbClr val="4B4B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340096" y="1481328"/>
            <a:ext cx="4151376" cy="256032"/>
          </a:xfrm>
          <a:prstGeom prst="rect">
            <a:avLst/>
          </a:prstGeom>
          <a:solidFill>
            <a:srgbClr val="2D2D2D"/>
          </a:solidFill>
          <a:ln w="12700">
            <a:solidFill>
              <a:srgbClr val="34343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541264" y="1554480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Endpoints Principales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1920240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1E3D2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586984" y="197510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F78F"/>
                </a:solidFill>
              </a:rPr>
              <a:t>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199339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26680" y="199339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i="1" dirty="0">
                <a:solidFill>
                  <a:srgbClr val="8B8F96"/>
                </a:solidFill>
              </a:rPr>
              <a:t>Keep-alive check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5532120" y="2231136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244839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586984" y="2286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E6BB"/>
                </a:solidFill>
              </a:rPr>
              <a:t>POST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44768" y="2304288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26680" y="2304288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i="1" dirty="0">
                <a:solidFill>
                  <a:srgbClr val="8B8F96"/>
                </a:solidFill>
              </a:rPr>
              <a:t>Autenticación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532120" y="2542032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1E3D2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586984" y="25968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F78F"/>
                </a:solidFill>
              </a:rPr>
              <a:t>GET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261518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/api/control-center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726680" y="261518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i="1" dirty="0">
                <a:solidFill>
                  <a:srgbClr val="8B8F96"/>
                </a:solidFill>
              </a:rPr>
              <a:t>Dashboard Data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5532120" y="2852928"/>
            <a:ext cx="493776" cy="292608"/>
          </a:xfrm>
          <a:prstGeom prst="roundRect">
            <a:avLst>
              <a:gd name="adj" fmla="val 15625"/>
            </a:avLst>
          </a:prstGeom>
          <a:solidFill>
            <a:srgbClr val="1E3D2B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5586984" y="29077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F78F"/>
                </a:solidFill>
              </a:rPr>
              <a:t>GET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2926080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26680" y="2926080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i="1" dirty="0">
                <a:solidFill>
                  <a:srgbClr val="8B8F96"/>
                </a:solidFill>
              </a:rPr>
              <a:t>System Logs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340096" y="3182112"/>
            <a:ext cx="4151376" cy="1408176"/>
          </a:xfrm>
          <a:prstGeom prst="roundRect">
            <a:avLst>
              <a:gd name="adj" fmla="val 2597"/>
            </a:avLst>
          </a:prstGeom>
          <a:solidFill>
            <a:srgbClr val="202020"/>
          </a:solidFill>
          <a:ln w="12700">
            <a:solidFill>
              <a:srgbClr val="4B4B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541264" y="331012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Scripts (Node.js)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22976" y="3657600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5577840" y="37124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generate-script.js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0" y="3657600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7370064" y="371246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generate-voice.js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22976" y="4041648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5577840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generate-subtitles.js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4041648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7370064" y="40965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fetch-pexels.js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22976" y="4425696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5577840" y="44805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build-short.sh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315200" y="4425696"/>
            <a:ext cx="1664208" cy="292608"/>
          </a:xfrm>
          <a:prstGeom prst="roundRect">
            <a:avLst>
              <a:gd name="adj" fmla="val 15625"/>
            </a:avLst>
          </a:prstGeom>
          <a:solidFill>
            <a:srgbClr val="2A2A2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7370064" y="44805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D7D7"/>
                </a:solidFill>
              </a:rPr>
              <a:t>upload-youtube.js</a:t>
            </a:r>
            <a:endParaRPr lang="en-US" sz="1100" dirty="0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1E232F5F-915B-A5BC-DD05-3F2CDCCD5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" y="-16735"/>
            <a:ext cx="117950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07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Neon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Estructura de persistencia en PostgreSQL para gestión de estado, artefactos y observabilidad del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75888" y="941832"/>
            <a:ext cx="0" cy="1024128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58768" y="92354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58768" y="9601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79392" y="914400"/>
            <a:ext cx="6601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Orquestación de Contenido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79392" y="1252728"/>
            <a:ext cx="65653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content_runs: Tabla principal que controla el ciclo de vida (topic, título, status, stage).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content_events: Registro cronológico de eventos por etapa del pipeline para auditoría.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75888" y="2286000"/>
            <a:ext cx="7662672" cy="1097280"/>
          </a:xfrm>
          <a:prstGeom prst="rect">
            <a:avLst/>
          </a:prstGeom>
          <a:solidFill>
            <a:srgbClr val="101828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75888" y="2331720"/>
            <a:ext cx="0" cy="1005840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858768" y="2313432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858768" y="235000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79392" y="230428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Gestión de Artefactos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79392" y="2642616"/>
            <a:ext cx="68762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content_artifacts: Almacenamiento de referencias a assets generados (audio, subtítulos, clips de Pexels, JSON de metadatos) vinculados a cada ejecución.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75888" y="3721608"/>
            <a:ext cx="0" cy="987552"/>
          </a:xfrm>
          <a:prstGeom prst="line">
            <a:avLst/>
          </a:prstGeom>
          <a:noFill/>
          <a:ln w="12700">
            <a:solidFill>
              <a:srgbClr val="9A4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858768" y="3703320"/>
            <a:ext cx="292608" cy="292608"/>
          </a:xfrm>
          <a:prstGeom prst="rect">
            <a:avLst/>
          </a:prstGeom>
          <a:solidFill>
            <a:srgbClr val="9A4DFF"/>
          </a:solidFill>
          <a:ln w="12700">
            <a:solidFill>
              <a:srgbClr val="9A4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858768" y="37398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79392" y="3694176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Observabilidad Técnica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279392" y="4032504"/>
            <a:ext cx="6620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execution_logs &amp; workflow_snapshots: Trazabilidad completa de ejecuciones de n8n, logs de scripts y capturas de estado del workflow para depuración y monitoreo.</a:t>
            </a:r>
            <a:endParaRPr lang="en-US" sz="1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FEBE412-9B3E-4F2D-7797-F5A41790B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8" y="0"/>
            <a:ext cx="1214358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08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Optimización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Estrategias de codificación FFmpeg diseñadas específicamente para operar dentro de las restricciones de memoria del Free Tier de Render.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712464" y="850392"/>
            <a:ext cx="0" cy="1133856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95344" y="83210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95344" y="8686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5968" y="822960"/>
            <a:ext cx="6656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Perfil Low-Memory (Render Free)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15968" y="1161288"/>
            <a:ext cx="66202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Configuración agresiva para minimizar el uso de RAM. El uso de un solo hilo y el preset ultrafast son críticos para evitar el desalojo del pod por exceso de memoria.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102412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3A3A3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370832" y="107899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540x960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102412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3A3A3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175504" y="107899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 FPS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25312" y="102412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3A3A3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980176" y="107899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threads=1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9984" y="102412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3A3A3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784848" y="1078992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preset=ultrafast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12464" y="2441448"/>
            <a:ext cx="0" cy="1078992"/>
          </a:xfrm>
          <a:prstGeom prst="line">
            <a:avLst/>
          </a:prstGeom>
          <a:noFill/>
          <a:ln w="12700">
            <a:solidFill>
              <a:srgbClr val="2B4F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895344" y="2423160"/>
            <a:ext cx="292608" cy="292608"/>
          </a:xfrm>
          <a:prstGeom prst="rect">
            <a:avLst/>
          </a:prstGeom>
          <a:solidFill>
            <a:srgbClr val="2B4F8F"/>
          </a:solidFill>
          <a:ln w="12700">
            <a:solidFill>
              <a:srgbClr val="2B4F8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895344" y="24597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15968" y="2414016"/>
            <a:ext cx="6601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Gestión de Calidad (CRF &amp; Bitrate)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315968" y="2752344"/>
            <a:ext cx="6565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Balance ajustado para dispositivos móviles. Se sacrifica ligeramente la fidelidad visual y el audio para garantizar tiempos de renderizado inferiores al timeout de la plataforma.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61104" y="2633472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4A4A4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315968" y="26883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CRF=30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30368" y="2633472"/>
            <a:ext cx="841248" cy="292608"/>
          </a:xfrm>
          <a:prstGeom prst="roundRect">
            <a:avLst>
              <a:gd name="adj" fmla="val 15625"/>
            </a:avLst>
          </a:prstGeom>
          <a:solidFill>
            <a:srgbClr val="4A4A4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285232" y="26883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Vídeo 1200k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2633472"/>
            <a:ext cx="1572768" cy="292608"/>
          </a:xfrm>
          <a:prstGeom prst="roundRect">
            <a:avLst>
              <a:gd name="adj" fmla="val 15625"/>
            </a:avLst>
          </a:prstGeom>
          <a:solidFill>
            <a:srgbClr val="4A4A4A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254496" y="26883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Audio 64k @ 22.05kHz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12464" y="3968496"/>
            <a:ext cx="7607808" cy="1170432"/>
          </a:xfrm>
          <a:prstGeom prst="rect">
            <a:avLst/>
          </a:prstGeom>
          <a:solidFill>
            <a:srgbClr val="101828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3712464" y="4014216"/>
            <a:ext cx="0" cy="1078992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895344" y="3995928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895344" y="40325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▣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15968" y="3986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Estabilidad Operativa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315968" y="4325112"/>
            <a:ext cx="6821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Uso de workspace efímero en /tmp/bot-videos. El perfil previene errores OOM (Out Of Memory) comunes en instancias compartidas, asegurando que el proceso de "Build Video" complete exitosamente.</a:t>
            </a:r>
            <a:endParaRPr lang="en-US" sz="1250" dirty="0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621F5B78-6D7B-DD67-411D-A65FC787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" y="0"/>
            <a:ext cx="1217935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09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Operación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Estrategias de protección, monitorización exhaustiva y rutinas de mantenimiento para garantizar la estabilidad del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94176" y="868680"/>
            <a:ext cx="0" cy="950976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77056" y="850392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77056" y="886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841248"/>
            <a:ext cx="672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Seguridad y Acceso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1179576"/>
            <a:ext cx="6693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Autenticación de backend activada (APP_AUTH_ENABLED), gestión estricta de secretos (sin archivos .env en repo) y rotación periódica de claves API críticas.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94176" y="2075688"/>
            <a:ext cx="0" cy="987552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877056" y="2057400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77056" y="209397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2048256"/>
            <a:ext cx="6821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Observabilidad Total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97680" y="2386584"/>
            <a:ext cx="6784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Trazabilidad completa mediante logs técnicos, snapshots de workflows de n8n y registros de auditoría de API (api_audit_logs) almacenados de forma persistente en Neon.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94176" y="3392424"/>
            <a:ext cx="0" cy="1060704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877056" y="3374136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877056" y="34107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36499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Mantenimiento y Resiliencia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297680" y="3703320"/>
            <a:ext cx="7004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Scripts automáticos de limpieza (failed/stale runs), keep-alive vía GitHub Actions (/health cada 5 min) y gestión preventiva de memoria para evitar suspensiones en Render Free.</a:t>
            </a:r>
            <a:endParaRPr lang="en-US" sz="125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770BE16-D1EC-1811-7FC6-E3AD0B677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10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Limitación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YouTube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El principal obstáculo para la automatización total "zero-touch" y cómo se gestiona en la operación diaria.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968496" y="804672"/>
            <a:ext cx="7424928" cy="1078992"/>
          </a:xfrm>
          <a:prstGeom prst="rect">
            <a:avLst/>
          </a:prstGeom>
          <a:solidFill>
            <a:srgbClr val="2B171A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968496" y="850392"/>
            <a:ext cx="0" cy="987552"/>
          </a:xfrm>
          <a:prstGeom prst="line">
            <a:avLst/>
          </a:prstGeom>
          <a:noFill/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151376" y="832104"/>
            <a:ext cx="292608" cy="292608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51376" y="8686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8229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Restricción de Privacidad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1161288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Las subidas automáticas quedan forzosamente en estado "private" (variable YOUTUBE_PRIVACY_STATUS=private). Esto es una política de seguridad de Google para aplicaciones API no auditadas, no un error del sistema.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68496" y="2221992"/>
            <a:ext cx="0" cy="987552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151376" y="220370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151376" y="22402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Workaround Operativo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2532888"/>
            <a:ext cx="6547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El pipeline automatiza el 95% del esfuerzo (creación y subida). Se requiere intervención humana periódica para entrar a YouTube Studio y cambiar el estado a "Público" en lote, permitiendo revisión final de calidad.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968496" y="3611880"/>
            <a:ext cx="0" cy="950976"/>
          </a:xfrm>
          <a:prstGeom prst="line">
            <a:avLst/>
          </a:prstGeom>
          <a:noFill/>
          <a:ln w="12700">
            <a:solidFill>
              <a:srgbClr val="7A7A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151376" y="3593592"/>
            <a:ext cx="292608" cy="29260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151376" y="36301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584448"/>
            <a:ext cx="6729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Alternativas Descartadas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0" y="3922776"/>
            <a:ext cx="6693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Se evaluó la automatización de navegador (Puppeteer/Selenium) para simular un usuario real y saltar la API, pero se descartó por alta fragilidad, consumo de recursos y riesgo de bloqueo de cuenta.</a:t>
            </a:r>
            <a:endParaRPr lang="en-US" sz="1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5678E1C-26E2-DB09-0603-79456363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" y="0"/>
            <a:ext cx="1218883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11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Resultados: 7 Shorts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Publicados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38912" y="1060704"/>
            <a:ext cx="10899648" cy="4069080"/>
          </a:xfrm>
          <a:prstGeom prst="roundRect">
            <a:avLst>
              <a:gd name="adj" fmla="val 899"/>
            </a:avLst>
          </a:prstGeom>
          <a:solidFill>
            <a:srgbClr val="272727"/>
          </a:solidFill>
          <a:ln w="12700">
            <a:solidFill>
              <a:srgbClr val="4646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1248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TÍTULO VIDEO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45152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FECHA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07024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DURACIÓN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12864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VIEWS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36992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COMENTARIOS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235440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LIKES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204704" y="1298448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4A8AD"/>
                </a:solidFill>
              </a:rPr>
              <a:t>% LIKE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68096" y="1591056"/>
            <a:ext cx="101498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40080" y="1700784"/>
            <a:ext cx="10241280" cy="38404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822960" y="1810512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60120" y="180136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4"/>
                </a:solidFill>
              </a:rPr>
              <a:t>La estrella más cercana a la Tierra...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5152" y="180136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1 mar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70448" y="180136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0:29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179222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4"/>
                </a:solidFill>
              </a:rPr>
              <a:t>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19872" y="180136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54896" y="180136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58984" y="180136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139696"/>
            <a:ext cx="10241280" cy="38404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822960" y="224942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960120" y="224028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4"/>
                </a:solidFill>
              </a:rPr>
              <a:t>Sabías esto sobre las hormigas...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45152" y="224028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1 mar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70448" y="224028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0:16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49440" y="223113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4"/>
                </a:solidFill>
              </a:rPr>
              <a:t>40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19872" y="224028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54896" y="224028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58984" y="224028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2578608"/>
            <a:ext cx="10241280" cy="38404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822960" y="2688336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960120" y="267919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4"/>
                </a:solidFill>
              </a:rPr>
              <a:t>Londres y su mala racha...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45152" y="267919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21 mar 2026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70448" y="2679192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0:23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267004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4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19872" y="2679192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54896" y="267919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58984" y="2679192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3017520"/>
            <a:ext cx="10241280" cy="38404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822960" y="3127248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960120" y="3118104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4"/>
                </a:solidFill>
              </a:rPr>
              <a:t>¡El color que te pone al límite! 🤯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645152" y="311810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21 mar 2026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70448" y="311810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0:19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49440" y="310896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4"/>
                </a:solidFill>
              </a:rPr>
              <a:t>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19872" y="3118104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2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454896" y="311810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158984" y="3118104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3456432"/>
            <a:ext cx="10241280" cy="384048"/>
          </a:xfrm>
          <a:prstGeom prst="rect">
            <a:avLst/>
          </a:prstGeom>
          <a:solidFill>
            <a:srgbClr val="273347"/>
          </a:solidFill>
          <a:ln w="12700">
            <a:solidFill>
              <a:srgbClr val="27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822960" y="3566160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44D37E"/>
          </a:solidFill>
          <a:ln w="12700">
            <a:solidFill>
              <a:srgbClr val="44D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960120" y="3557016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4F4"/>
                </a:solidFill>
              </a:rPr>
              <a:t>¡El Silencio Absoluto ES IMPOSIBLE! 😱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645152" y="355701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21 mar 2026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70448" y="3557016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0:27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949440" y="354787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D37E"/>
                </a:solidFill>
              </a:rPr>
              <a:t>421 ↑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119872" y="355701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454896" y="355701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6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158984" y="35570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" y="3895344"/>
            <a:ext cx="10241280" cy="384048"/>
          </a:xfrm>
          <a:prstGeom prst="rect">
            <a:avLst/>
          </a:prstGeom>
          <a:solidFill>
            <a:srgbClr val="25362B"/>
          </a:solidFill>
          <a:ln w="12700">
            <a:solidFill>
              <a:srgbClr val="2536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822960" y="4005072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44D37E"/>
          </a:solidFill>
          <a:ln w="12700">
            <a:solidFill>
              <a:srgbClr val="44D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960120" y="399592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F4F4"/>
                </a:solidFill>
              </a:rPr>
              <a:t>¡Tu ADN mide la distancia a la Luna!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645152" y="399592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1 mar 2026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870448" y="3995928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0:24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949440" y="3986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D37E"/>
                </a:solidFill>
              </a:rPr>
              <a:t>368 ↑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119872" y="3995928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454896" y="399592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10158984" y="3995928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C94C"/>
                </a:solidFill>
              </a:rPr>
              <a:t>80%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0080" y="4334256"/>
            <a:ext cx="10241280" cy="384048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822960" y="4443984"/>
            <a:ext cx="164592" cy="1097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Text 70"/>
          <p:cNvSpPr/>
          <p:nvPr/>
        </p:nvSpPr>
        <p:spPr>
          <a:xfrm>
            <a:off x="960120" y="443484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4"/>
                </a:solidFill>
              </a:rPr>
              <a:t>¡3 Corazones en un Pulpo! 🤯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645152" y="443484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5CB"/>
                </a:solidFill>
              </a:rPr>
              <a:t>21 mar 2026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870448" y="4434840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D9DD"/>
                </a:solidFill>
              </a:rPr>
              <a:t>0:19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949440" y="4425696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4"/>
                </a:solidFill>
              </a:rPr>
              <a:t>8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119872" y="44348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1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454896" y="443484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4"/>
                </a:solidFill>
              </a:rPr>
              <a:t>1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0158984" y="443484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4D37E"/>
                </a:solidFill>
              </a:rPr>
              <a:t>100%</a:t>
            </a:r>
            <a:endParaRPr lang="en-US" sz="1050" dirty="0"/>
          </a:p>
        </p:txBody>
      </p:sp>
      <p:pic>
        <p:nvPicPr>
          <p:cNvPr id="80" name="Imagen 79">
            <a:extLst>
              <a:ext uri="{FF2B5EF4-FFF2-40B4-BE49-F238E27FC236}">
                <a16:creationId xmlns:a16="http://schemas.microsoft.com/office/drawing/2014/main" id="{F70E9AA0-083D-80AA-58AB-663159425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3" y="0"/>
            <a:ext cx="1208179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12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y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Agregadas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93776" y="1078992"/>
            <a:ext cx="2048256" cy="1133856"/>
          </a:xfrm>
          <a:prstGeom prst="roundRect">
            <a:avLst>
              <a:gd name="adj" fmla="val 3226"/>
            </a:avLst>
          </a:prstGeom>
          <a:solidFill>
            <a:srgbClr val="242424"/>
          </a:solidFill>
          <a:ln w="12700">
            <a:solidFill>
              <a:srgbClr val="3E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93776" y="1078992"/>
            <a:ext cx="2048256" cy="3657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2A7AD"/>
                </a:solidFill>
              </a:rPr>
              <a:t>VIEWS TOTALES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894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90195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E67FF"/>
                </a:solidFill>
              </a:rPr>
              <a:t>↑ Acumulado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706624" y="1078992"/>
            <a:ext cx="2048256" cy="1133856"/>
          </a:xfrm>
          <a:prstGeom prst="roundRect">
            <a:avLst>
              <a:gd name="adj" fmla="val 3226"/>
            </a:avLst>
          </a:prstGeom>
          <a:solidFill>
            <a:srgbClr val="242424"/>
          </a:solidFill>
          <a:ln w="12700">
            <a:solidFill>
              <a:srgbClr val="3E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06624" y="1078992"/>
            <a:ext cx="2048256" cy="36576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852928" y="12801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2A7AD"/>
                </a:solidFill>
              </a:rPr>
              <a:t>ENGAGEMENT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71216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2.9%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71216" y="190195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F2C94C"/>
                </a:solidFill>
              </a:rPr>
              <a:t>(Likes + Com.) / Views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919472" y="1078992"/>
            <a:ext cx="2048256" cy="1133856"/>
          </a:xfrm>
          <a:prstGeom prst="roundRect">
            <a:avLst>
              <a:gd name="adj" fmla="val 3226"/>
            </a:avLst>
          </a:prstGeom>
          <a:solidFill>
            <a:srgbClr val="242424"/>
          </a:solidFill>
          <a:ln w="12700">
            <a:solidFill>
              <a:srgbClr val="3E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919472" y="1078992"/>
            <a:ext cx="2048256" cy="36576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65776" y="12801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2A7AD"/>
                </a:solidFill>
              </a:rPr>
              <a:t>LIKES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84064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19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84064" y="190195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FF4B55"/>
                </a:solidFill>
              </a:rPr>
              <a:t>Total interacción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7132320" y="1078992"/>
            <a:ext cx="2048256" cy="1133856"/>
          </a:xfrm>
          <a:prstGeom prst="roundRect">
            <a:avLst>
              <a:gd name="adj" fmla="val 3226"/>
            </a:avLst>
          </a:prstGeom>
          <a:solidFill>
            <a:srgbClr val="242424"/>
          </a:solidFill>
          <a:ln w="12700">
            <a:solidFill>
              <a:srgbClr val="3E3E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7132320" y="1078992"/>
            <a:ext cx="2048256" cy="36576"/>
          </a:xfrm>
          <a:prstGeom prst="rect">
            <a:avLst/>
          </a:prstGeom>
          <a:solidFill>
            <a:srgbClr val="9A4DFF"/>
          </a:solidFill>
          <a:ln w="12700">
            <a:solidFill>
              <a:srgbClr val="9A4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278624" y="128016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2A7AD"/>
                </a:solidFill>
              </a:rPr>
              <a:t>COMENTARIOS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96912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96912" y="1901952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9A4DFF"/>
                </a:solidFill>
              </a:rPr>
              <a:t>Feedback directo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493776" y="2395728"/>
            <a:ext cx="4599432" cy="2304288"/>
          </a:xfrm>
          <a:prstGeom prst="roundRect">
            <a:avLst>
              <a:gd name="adj" fmla="val 1587"/>
            </a:avLst>
          </a:prstGeom>
          <a:solidFill>
            <a:srgbClr val="252525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822960" y="25786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Estadísticas de Eficiencia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9808" y="2852928"/>
            <a:ext cx="39319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31520" y="3127248"/>
            <a:ext cx="3675888" cy="420624"/>
          </a:xfrm>
          <a:prstGeom prst="roundRect">
            <a:avLst>
              <a:gd name="adj" fmla="val 4348"/>
            </a:avLst>
          </a:prstGeom>
          <a:solidFill>
            <a:srgbClr val="2B2B2B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170432" y="326440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4CC"/>
                </a:solidFill>
              </a:rPr>
              <a:t>Promedio Views / Video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326440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67FF"/>
                </a:solidFill>
              </a:rPr>
              <a:t>~128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" y="3694176"/>
            <a:ext cx="3675888" cy="420624"/>
          </a:xfrm>
          <a:prstGeom prst="roundRect">
            <a:avLst>
              <a:gd name="adj" fmla="val 4348"/>
            </a:avLst>
          </a:prstGeom>
          <a:solidFill>
            <a:srgbClr val="2B2B2B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1170432" y="383133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4CC"/>
                </a:solidFill>
              </a:rPr>
              <a:t>Mediana Views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383133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67FF"/>
                </a:solidFill>
              </a:rPr>
              <a:t>40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" y="4261104"/>
            <a:ext cx="3675888" cy="420624"/>
          </a:xfrm>
          <a:prstGeom prst="roundRect">
            <a:avLst>
              <a:gd name="adj" fmla="val 4348"/>
            </a:avLst>
          </a:prstGeom>
          <a:solidFill>
            <a:srgbClr val="2B2B2B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170432" y="439826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4CC"/>
                </a:solidFill>
              </a:rPr>
              <a:t>Duración Media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49040" y="439826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67FF"/>
                </a:solidFill>
              </a:rPr>
              <a:t>22.4s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85232" y="2395728"/>
            <a:ext cx="5641848" cy="2304288"/>
          </a:xfrm>
          <a:prstGeom prst="roundRect">
            <a:avLst>
              <a:gd name="adj" fmla="val 1587"/>
            </a:avLst>
          </a:prstGeom>
          <a:solidFill>
            <a:srgbClr val="252525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5742432" y="2578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Performers (Dominan el 88% del tráfico)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24144" y="3072384"/>
            <a:ext cx="4681728" cy="493776"/>
          </a:xfrm>
          <a:prstGeom prst="rect">
            <a:avLst/>
          </a:prstGeom>
          <a:solidFill>
            <a:srgbClr val="233449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5724144" y="3072384"/>
            <a:ext cx="27432" cy="49377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925312" y="3182112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 ¡El Silencio Absoluto ES IMPOSIBLE!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925312" y="3346704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D4D8DD"/>
                </a:solidFill>
              </a:rPr>
              <a:t>421 views  /  47% del total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8211312" y="334670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1E67FF"/>
                </a:solidFill>
              </a:rPr>
              <a:t>Viral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5724144" y="3730752"/>
            <a:ext cx="4681728" cy="493776"/>
          </a:xfrm>
          <a:prstGeom prst="rect">
            <a:avLst/>
          </a:prstGeom>
          <a:solidFill>
            <a:srgbClr val="233827"/>
          </a:solidFill>
          <a:ln w="12700">
            <a:solidFill>
              <a:srgbClr val="44D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5724144" y="3730752"/>
            <a:ext cx="27432" cy="493776"/>
          </a:xfrm>
          <a:prstGeom prst="rect">
            <a:avLst/>
          </a:prstGeom>
          <a:solidFill>
            <a:srgbClr val="44D37E"/>
          </a:solidFill>
          <a:ln w="12700">
            <a:solidFill>
              <a:srgbClr val="44D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925312" y="3840480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2. ¡Tu ADN mide la distancia a la Luna!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925312" y="4005072"/>
            <a:ext cx="1627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D4D8DD"/>
                </a:solidFill>
              </a:rPr>
              <a:t>368 views  /  41% del total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8211312" y="4005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4D37E"/>
                </a:solidFill>
              </a:rPr>
              <a:t>Curiosidad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5742432" y="4370832"/>
            <a:ext cx="4617720" cy="384048"/>
          </a:xfrm>
          <a:prstGeom prst="roundRect">
            <a:avLst>
              <a:gd name="adj" fmla="val 4762"/>
            </a:avLst>
          </a:prstGeom>
          <a:solidFill>
            <a:srgbClr val="2F2A22"/>
          </a:solidFill>
          <a:ln w="12700">
            <a:solidFill>
              <a:srgbClr val="6F67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888736" y="444398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F2E0B0"/>
                </a:solidFill>
              </a:rPr>
              <a:t>💡 Insight: El contenido de ciencia/espacio con títulos provocativos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2E0B0"/>
                </a:solidFill>
              </a:rPr>
              <a:t>("Imposible", "Distancia") genera un rendimiento exponencialmente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F2E0B0"/>
                </a:solidFill>
              </a:rPr>
              <a:t>mayor que los hechos genéricos.</a:t>
            </a:r>
            <a:endParaRPr lang="en-US" sz="1040" dirty="0"/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3BD39F0E-9C32-F932-D765-057052932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4"/>
            <a:ext cx="12192000" cy="68502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13 / 16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0624" y="365760"/>
            <a:ext cx="45720" cy="320040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Visual de </a:t>
            </a:r>
            <a:r>
              <a:rPr lang="en-US" sz="2500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Rendimiento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02336" y="841248"/>
            <a:ext cx="11155680" cy="0"/>
          </a:xfrm>
          <a:prstGeom prst="line">
            <a:avLst/>
          </a:prstGeom>
          <a:noFill/>
          <a:ln w="12700">
            <a:solidFill>
              <a:srgbClr val="3737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02336" y="1078992"/>
            <a:ext cx="5157216" cy="4224528"/>
          </a:xfrm>
          <a:prstGeom prst="roundRect">
            <a:avLst>
              <a:gd name="adj" fmla="val 866"/>
            </a:avLst>
          </a:prstGeom>
          <a:solidFill>
            <a:srgbClr val="24242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1248" y="122529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Views por Video (Top Performers)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68096" y="1664208"/>
          <a:ext cx="3584448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3730752" y="2249424"/>
            <a:ext cx="1444752" cy="621792"/>
          </a:xfrm>
          <a:prstGeom prst="roundRect">
            <a:avLst>
              <a:gd name="adj" fmla="val 4412"/>
            </a:avLst>
          </a:prstGeom>
          <a:solidFill>
            <a:srgbClr val="2B2B2B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858768" y="237744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9E6D9"/>
                </a:solidFill>
              </a:rPr>
              <a:t>💡 Dos videos virales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9E6D9"/>
                </a:solidFill>
              </a:rPr>
              <a:t>concentran el 88% del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9E6D9"/>
                </a:solidFill>
              </a:rPr>
              <a:t>tráfico total.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724144" y="1078992"/>
            <a:ext cx="4279392" cy="2907792"/>
          </a:xfrm>
          <a:prstGeom prst="roundRect">
            <a:avLst>
              <a:gd name="adj" fmla="val 1258"/>
            </a:avLst>
          </a:prstGeom>
          <a:solidFill>
            <a:srgbClr val="24242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181344" y="12435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Distribución de Views por Categoría</a:t>
            </a:r>
            <a:endParaRPr lang="en-US" sz="14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5907024" y="1572768"/>
          <a:ext cx="2423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5724144" y="4133088"/>
            <a:ext cx="4279392" cy="1152144"/>
          </a:xfrm>
          <a:prstGeom prst="roundRect">
            <a:avLst>
              <a:gd name="adj" fmla="val 3175"/>
            </a:avLst>
          </a:prstGeom>
          <a:solidFill>
            <a:srgbClr val="24242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6163056" y="43159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Correlación: Duración vs Views</a:t>
            </a:r>
            <a:endParaRPr lang="en-US" sz="1400" dirty="0"/>
          </a:p>
        </p:txBody>
      </p:sp>
      <p:graphicFrame>
        <p:nvGraphicFramePr>
          <p:cNvPr id="17" name="Chart 2"/>
          <p:cNvGraphicFramePr/>
          <p:nvPr/>
        </p:nvGraphicFramePr>
        <p:xfrm>
          <a:off x="6126480" y="4572000"/>
          <a:ext cx="3547872" cy="512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9" name="Imagen 18">
            <a:extLst>
              <a:ext uri="{FF2B5EF4-FFF2-40B4-BE49-F238E27FC236}">
                <a16:creationId xmlns:a16="http://schemas.microsoft.com/office/drawing/2014/main" id="{D603ABC7-EF64-F9B6-BE97-F7606124C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" y="0"/>
            <a:ext cx="121340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14 /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Lecciones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Aprendidas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FC4CC"/>
                </a:solidFill>
              </a:rPr>
              <a:t>Conclusiones clave tras la ejecución del piloto y análisis de rendimiento de los primeros 7 Shorts publicados.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94176" y="850392"/>
            <a:ext cx="0" cy="1005840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877056" y="83210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77056" y="8686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8229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Estrategia de Contenido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97680" y="1161288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El nicho "Space/Science" genera el 88% de las visualizaciones totales. Los títulos con "curiosity gap" y una duración de 24–27 segundos muestran el mejor rendimiento de retención.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94176" y="2203704"/>
            <a:ext cx="0" cy="987552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877056" y="2185416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77056" y="22219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2176272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Resiliencia Técnica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97680" y="2514600"/>
            <a:ext cx="6601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El perfil optimizado de FFmpeg (low-memory) y la arquitectura desacoplada permiten estabilidad en Render Free Tier, evitando errores de memoria (OOM) y manteniendo costes en cero.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94176" y="3557016"/>
            <a:ext cx="0" cy="1024128"/>
          </a:xfrm>
          <a:prstGeom prst="line">
            <a:avLst/>
          </a:prstGeom>
          <a:noFill/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877056" y="3538728"/>
            <a:ext cx="292608" cy="292608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877056" y="35753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529584"/>
            <a:ext cx="6821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Flujo Operativo Híbrido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297680" y="3867912"/>
            <a:ext cx="6784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4F4"/>
                </a:solidFill>
              </a:rPr>
              <a:t>La restricción de API de YouTube ("private upload") obliga a una publicación manual en lotes. Es crítico mantener scripts de normalización en DB para sincronizar el estado real.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2B9E6-9003-E8BC-5D85-C92FC340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B42E65-44A1-9B74-CD40-D5DD9EC3062B}"/>
              </a:ext>
            </a:extLst>
          </p:cNvPr>
          <p:cNvSpPr/>
          <p:nvPr/>
        </p:nvSpPr>
        <p:spPr>
          <a:xfrm>
            <a:off x="27432" y="27432"/>
            <a:ext cx="12134088" cy="6784848"/>
          </a:xfrm>
          <a:prstGeom prst="roundRect">
            <a:avLst>
              <a:gd name="adj" fmla="val 1617"/>
            </a:avLst>
          </a:prstGeom>
          <a:solidFill>
            <a:srgbClr val="12121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B2A696-A801-0B51-0793-42EC52270C81}"/>
              </a:ext>
            </a:extLst>
          </p:cNvPr>
          <p:cNvSpPr/>
          <p:nvPr/>
        </p:nvSpPr>
        <p:spPr>
          <a:xfrm>
            <a:off x="36576" y="36576"/>
            <a:ext cx="3063240" cy="6766560"/>
          </a:xfrm>
          <a:prstGeom prst="rect">
            <a:avLst/>
          </a:prstGeom>
          <a:solidFill>
            <a:srgbClr val="232323"/>
          </a:solidFill>
          <a:ln w="12700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3ED88E-0EAB-23D6-6440-F8E2CD357997}"/>
              </a:ext>
            </a:extLst>
          </p:cNvPr>
          <p:cNvSpPr/>
          <p:nvPr/>
        </p:nvSpPr>
        <p:spPr>
          <a:xfrm>
            <a:off x="36576" y="438912"/>
            <a:ext cx="36576" cy="6345936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9B160F-EA1F-A009-C584-7419F10DC431}"/>
              </a:ext>
            </a:extLst>
          </p:cNvPr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15 / 16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1C367E-DCA4-2976-CB14-AFF2C0482A03}"/>
              </a:ext>
            </a:extLst>
          </p:cNvPr>
          <p:cNvSpPr/>
          <p:nvPr/>
        </p:nvSpPr>
        <p:spPr>
          <a:xfrm>
            <a:off x="438912" y="18288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2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189759-4BCF-1CDC-099A-9B12C3C17E50}"/>
              </a:ext>
            </a:extLst>
          </p:cNvPr>
          <p:cNvSpPr/>
          <p:nvPr/>
        </p:nvSpPr>
        <p:spPr>
          <a:xfrm>
            <a:off x="438912" y="27797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170931-8147-B20E-46A2-30C023276114}"/>
              </a:ext>
            </a:extLst>
          </p:cNvPr>
          <p:cNvSpPr/>
          <p:nvPr/>
        </p:nvSpPr>
        <p:spPr>
          <a:xfrm>
            <a:off x="457200" y="3822192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300" dirty="0">
                <a:solidFill>
                  <a:srgbClr val="BFC4CC"/>
                </a:solidFill>
              </a:rPr>
              <a:t>Gracias por vuestro tiempo.</a:t>
            </a:r>
          </a:p>
          <a:p>
            <a:pPr marL="0" indent="0">
              <a:buNone/>
            </a:pPr>
            <a:endParaRPr lang="es-ES" sz="1300" dirty="0">
              <a:solidFill>
                <a:srgbClr val="BFC4CC"/>
              </a:solidFill>
            </a:endParaRPr>
          </a:p>
          <a:p>
            <a:pPr marL="0" indent="0">
              <a:buNone/>
            </a:pPr>
            <a:r>
              <a:rPr lang="es-ES" sz="1300" dirty="0">
                <a:solidFill>
                  <a:srgbClr val="BFC4CC"/>
                </a:solidFill>
              </a:rPr>
              <a:t>Si te interesa el proyecto o quieres comentar, estaré encantado de hablar contigo.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96AED3B-DC64-3153-FAF0-9061EAA6C46B}"/>
              </a:ext>
            </a:extLst>
          </p:cNvPr>
          <p:cNvSpPr/>
          <p:nvPr/>
        </p:nvSpPr>
        <p:spPr>
          <a:xfrm>
            <a:off x="384048" y="6382512"/>
            <a:ext cx="36576" cy="36576"/>
          </a:xfrm>
          <a:prstGeom prst="ellipse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812553B-CDC2-FF02-BBBD-A8617329190D}"/>
              </a:ext>
            </a:extLst>
          </p:cNvPr>
          <p:cNvSpPr/>
          <p:nvPr/>
        </p:nvSpPr>
        <p:spPr>
          <a:xfrm>
            <a:off x="493776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F03B6C-07AE-90D7-7E10-E5E7AF2AB943}"/>
              </a:ext>
            </a:extLst>
          </p:cNvPr>
          <p:cNvSpPr/>
          <p:nvPr/>
        </p:nvSpPr>
        <p:spPr>
          <a:xfrm>
            <a:off x="603504" y="6382512"/>
            <a:ext cx="36576" cy="36576"/>
          </a:xfrm>
          <a:prstGeom prst="ellipse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56FA711-A4F6-247E-8C85-9382D7AA0E65}"/>
              </a:ext>
            </a:extLst>
          </p:cNvPr>
          <p:cNvSpPr/>
          <p:nvPr/>
        </p:nvSpPr>
        <p:spPr>
          <a:xfrm>
            <a:off x="3694176" y="850392"/>
            <a:ext cx="0" cy="1005840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F8D637-0A0D-ED0F-49A1-2AD34B8F7478}"/>
              </a:ext>
            </a:extLst>
          </p:cNvPr>
          <p:cNvSpPr/>
          <p:nvPr/>
        </p:nvSpPr>
        <p:spPr>
          <a:xfrm>
            <a:off x="3877056" y="832104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A123E8-5A09-0023-8E1F-A9615F1640C2}"/>
              </a:ext>
            </a:extLst>
          </p:cNvPr>
          <p:cNvSpPr/>
          <p:nvPr/>
        </p:nvSpPr>
        <p:spPr>
          <a:xfrm>
            <a:off x="3877056" y="86868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D0DF8B2-4669-AA3B-B11A-9A4724045EB4}"/>
              </a:ext>
            </a:extLst>
          </p:cNvPr>
          <p:cNvSpPr/>
          <p:nvPr/>
        </p:nvSpPr>
        <p:spPr>
          <a:xfrm>
            <a:off x="4297680" y="8229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</a:rPr>
              <a:t>Github</a:t>
            </a:r>
            <a:endParaRPr lang="en-US" sz="17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349ED6C-82EA-A81F-5F37-B1E4E4F977F6}"/>
              </a:ext>
            </a:extLst>
          </p:cNvPr>
          <p:cNvSpPr/>
          <p:nvPr/>
        </p:nvSpPr>
        <p:spPr>
          <a:xfrm>
            <a:off x="4297680" y="1161288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250" dirty="0">
                <a:solidFill>
                  <a:srgbClr val="F4F4F4"/>
                </a:solidFill>
              </a:rPr>
              <a:t>Repositorio del </a:t>
            </a:r>
            <a:r>
              <a:rPr lang="es-ES" sz="1250" dirty="0" err="1">
                <a:solidFill>
                  <a:srgbClr val="F4F4F4"/>
                </a:solidFill>
              </a:rPr>
              <a:t>proyectoAquí</a:t>
            </a:r>
            <a:r>
              <a:rPr lang="es-ES" sz="1250" dirty="0">
                <a:solidFill>
                  <a:srgbClr val="F4F4F4"/>
                </a:solidFill>
              </a:rPr>
              <a:t> puedes ver cómo está construido todo el sistema</a:t>
            </a:r>
          </a:p>
          <a:p>
            <a:pPr marL="0" indent="0">
              <a:buNone/>
            </a:pPr>
            <a:r>
              <a:rPr lang="en-US" sz="1250" dirty="0">
                <a:hlinkClick r:id="rId3"/>
              </a:rPr>
              <a:t>https://github.com/Duva-01/Video-Bot-N8N</a:t>
            </a:r>
            <a:endParaRPr lang="en-US" sz="1250" dirty="0"/>
          </a:p>
          <a:p>
            <a:endParaRPr lang="en-US" sz="12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59DDB7A-B001-D95B-EB13-7666FEA278FC}"/>
              </a:ext>
            </a:extLst>
          </p:cNvPr>
          <p:cNvSpPr/>
          <p:nvPr/>
        </p:nvSpPr>
        <p:spPr>
          <a:xfrm>
            <a:off x="3694176" y="2203704"/>
            <a:ext cx="0" cy="987552"/>
          </a:xfrm>
          <a:prstGeom prst="line">
            <a:avLst/>
          </a:prstGeom>
          <a:noFill/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65E266A-D37C-EC4F-35C1-8665E52FCC2A}"/>
              </a:ext>
            </a:extLst>
          </p:cNvPr>
          <p:cNvSpPr/>
          <p:nvPr/>
        </p:nvSpPr>
        <p:spPr>
          <a:xfrm>
            <a:off x="3877056" y="2185416"/>
            <a:ext cx="292608" cy="292608"/>
          </a:xfrm>
          <a:prstGeom prst="rect">
            <a:avLst/>
          </a:prstGeom>
          <a:solidFill>
            <a:srgbClr val="1E67FF"/>
          </a:solidFill>
          <a:ln w="12700">
            <a:solidFill>
              <a:srgbClr val="1E67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850DAD4-A957-71C7-E5F1-D39390170754}"/>
              </a:ext>
            </a:extLst>
          </p:cNvPr>
          <p:cNvSpPr/>
          <p:nvPr/>
        </p:nvSpPr>
        <p:spPr>
          <a:xfrm>
            <a:off x="3877056" y="22219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DF67D6C-C6D4-8F40-8375-9444092E9ABD}"/>
              </a:ext>
            </a:extLst>
          </p:cNvPr>
          <p:cNvSpPr/>
          <p:nvPr/>
        </p:nvSpPr>
        <p:spPr>
          <a:xfrm>
            <a:off x="4297680" y="2176272"/>
            <a:ext cx="6638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LinkedIn</a:t>
            </a:r>
            <a:endParaRPr lang="en-US" sz="17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B8C0822-639C-81A3-8C50-F0BE10D8F07A}"/>
              </a:ext>
            </a:extLst>
          </p:cNvPr>
          <p:cNvSpPr/>
          <p:nvPr/>
        </p:nvSpPr>
        <p:spPr>
          <a:xfrm>
            <a:off x="4297680" y="2514600"/>
            <a:ext cx="6601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250" dirty="0">
                <a:solidFill>
                  <a:srgbClr val="F4F4F4"/>
                </a:solidFill>
              </a:rPr>
              <a:t>Perfil </a:t>
            </a:r>
            <a:r>
              <a:rPr lang="es-ES" sz="1250" dirty="0" err="1">
                <a:solidFill>
                  <a:srgbClr val="F4F4F4"/>
                </a:solidFill>
              </a:rPr>
              <a:t>profesionalMi</a:t>
            </a:r>
            <a:r>
              <a:rPr lang="es-ES" sz="1250" dirty="0">
                <a:solidFill>
                  <a:srgbClr val="F4F4F4"/>
                </a:solidFill>
              </a:rPr>
              <a:t> experiencia y los proyectos en los que he trabajado</a:t>
            </a:r>
          </a:p>
          <a:p>
            <a:pPr marL="0" indent="0">
              <a:buNone/>
            </a:pPr>
            <a:r>
              <a:rPr lang="en-US" sz="1250" dirty="0">
                <a:hlinkClick r:id="rId4"/>
              </a:rPr>
              <a:t>https://www.linkedin.com/in/dmartinez01/</a:t>
            </a:r>
            <a:endParaRPr lang="en-US" sz="1250" dirty="0"/>
          </a:p>
          <a:p>
            <a:endParaRPr lang="en-US" sz="12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9D68096-AB84-FB8C-C5E5-A79812C461BA}"/>
              </a:ext>
            </a:extLst>
          </p:cNvPr>
          <p:cNvSpPr/>
          <p:nvPr/>
        </p:nvSpPr>
        <p:spPr>
          <a:xfrm>
            <a:off x="3694176" y="3557016"/>
            <a:ext cx="0" cy="1024128"/>
          </a:xfrm>
          <a:prstGeom prst="line">
            <a:avLst/>
          </a:prstGeom>
          <a:noFill/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2CB2B14-196C-245C-2A99-B1863E5A444F}"/>
              </a:ext>
            </a:extLst>
          </p:cNvPr>
          <p:cNvSpPr/>
          <p:nvPr/>
        </p:nvSpPr>
        <p:spPr>
          <a:xfrm>
            <a:off x="3877056" y="3538728"/>
            <a:ext cx="292608" cy="292608"/>
          </a:xfrm>
          <a:prstGeom prst="rect">
            <a:avLst/>
          </a:prstGeom>
          <a:solidFill>
            <a:srgbClr val="FF4B55"/>
          </a:solidFill>
          <a:ln w="12700">
            <a:solidFill>
              <a:srgbClr val="FF4B55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ED071FC-E361-40FD-0590-613302869BE8}"/>
              </a:ext>
            </a:extLst>
          </p:cNvPr>
          <p:cNvSpPr/>
          <p:nvPr/>
        </p:nvSpPr>
        <p:spPr>
          <a:xfrm>
            <a:off x="3877056" y="35753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5B8B0E-64BD-1BC1-B15F-533BCE693EE7}"/>
              </a:ext>
            </a:extLst>
          </p:cNvPr>
          <p:cNvSpPr/>
          <p:nvPr/>
        </p:nvSpPr>
        <p:spPr>
          <a:xfrm>
            <a:off x="4297680" y="3529584"/>
            <a:ext cx="6821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FFFFF"/>
                </a:solidFill>
              </a:rPr>
              <a:t>Canal de </a:t>
            </a:r>
            <a:r>
              <a:rPr lang="en-US" sz="1700" b="1" dirty="0" err="1">
                <a:solidFill>
                  <a:srgbClr val="FFFFFF"/>
                </a:solidFill>
              </a:rPr>
              <a:t>Youtube</a:t>
            </a:r>
            <a:r>
              <a:rPr lang="en-US" sz="1700" b="1" dirty="0">
                <a:solidFill>
                  <a:srgbClr val="FFFFFF"/>
                </a:solidFill>
              </a:rPr>
              <a:t> del Proyecto</a:t>
            </a:r>
            <a:endParaRPr lang="en-US" sz="1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9737F02-24F2-1570-DFBA-6ED9AFD26AE4}"/>
              </a:ext>
            </a:extLst>
          </p:cNvPr>
          <p:cNvSpPr/>
          <p:nvPr/>
        </p:nvSpPr>
        <p:spPr>
          <a:xfrm>
            <a:off x="4297680" y="3867912"/>
            <a:ext cx="6784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ES" sz="1250" dirty="0">
                <a:solidFill>
                  <a:srgbClr val="F4F4F4"/>
                </a:solidFill>
              </a:rPr>
              <a:t>Canal del proyecto. Demostraciones, resultados y evolución en producción</a:t>
            </a:r>
          </a:p>
          <a:p>
            <a:r>
              <a:rPr lang="en-US" sz="1250" dirty="0">
                <a:hlinkClick r:id="rId5"/>
              </a:rPr>
              <a:t>https://www.youtube.com/channel/UC9ynAJNdEpRGI6K2-Fqv4Ow</a:t>
            </a:r>
            <a:endParaRPr lang="en-US" sz="1250" dirty="0"/>
          </a:p>
          <a:p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08216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4436D-D4A2-4F2B-F3C2-374514ED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B2456F9-9918-E896-0060-5B4ABB39D815}"/>
              </a:ext>
            </a:extLst>
          </p:cNvPr>
          <p:cNvSpPr/>
          <p:nvPr/>
        </p:nvSpPr>
        <p:spPr>
          <a:xfrm>
            <a:off x="11292840" y="64190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378"/>
                </a:solidFill>
              </a:rPr>
              <a:t>16 / 16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6A0B44-71EB-7328-70F3-3032433A9123}"/>
              </a:ext>
            </a:extLst>
          </p:cNvPr>
          <p:cNvSpPr/>
          <p:nvPr/>
        </p:nvSpPr>
        <p:spPr>
          <a:xfrm>
            <a:off x="576072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EC67CD-92DB-86BB-1F2C-3D14CA721DC5}"/>
              </a:ext>
            </a:extLst>
          </p:cNvPr>
          <p:cNvSpPr/>
          <p:nvPr/>
        </p:nvSpPr>
        <p:spPr>
          <a:xfrm>
            <a:off x="932688" y="12984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67A8CBB-71D7-EBF2-7803-6E8265AF8E3B}"/>
              </a:ext>
            </a:extLst>
          </p:cNvPr>
          <p:cNvSpPr/>
          <p:nvPr/>
        </p:nvSpPr>
        <p:spPr>
          <a:xfrm>
            <a:off x="4358467" y="1633326"/>
            <a:ext cx="3475065" cy="311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 </a:t>
            </a:r>
            <a:r>
              <a:rPr lang="en-US" sz="7200" dirty="0" err="1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</a:t>
            </a:r>
            <a:r>
              <a:rPr lang="en-US" sz="72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7200" dirty="0" err="1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</a:t>
            </a:r>
            <a:endParaRPr lang="en-US" sz="7200" dirty="0">
              <a:solidFill>
                <a:srgbClr val="F4F4F4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  <a:p>
            <a:pPr algn="ctr"/>
            <a:r>
              <a:rPr lang="en-US" sz="7200" b="1" dirty="0" err="1">
                <a:solidFill>
                  <a:srgbClr val="1E6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Atención</a:t>
            </a:r>
            <a:endParaRPr lang="en-US" sz="7200" b="1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E382668-E9BE-E175-5746-53D86E08F1E3}"/>
              </a:ext>
            </a:extLst>
          </p:cNvPr>
          <p:cNvSpPr/>
          <p:nvPr/>
        </p:nvSpPr>
        <p:spPr>
          <a:xfrm>
            <a:off x="5235199" y="3789067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76463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1800</Words>
  <Application>Microsoft Office PowerPoint</Application>
  <PresentationFormat>Panorámica</PresentationFormat>
  <Paragraphs>350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Facts Engine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Facts Engine OS - Project Report</dc:title>
  <dc:subject>Project Report</dc:subject>
  <dc:creator>OpenAI Codex</dc:creator>
  <cp:lastModifiedBy>David Martínez Diaz</cp:lastModifiedBy>
  <cp:revision>3</cp:revision>
  <dcterms:created xsi:type="dcterms:W3CDTF">2026-03-21T17:15:25Z</dcterms:created>
  <dcterms:modified xsi:type="dcterms:W3CDTF">2026-03-21T18:06:08Z</dcterms:modified>
</cp:coreProperties>
</file>